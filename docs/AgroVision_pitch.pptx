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Здравствуйте, мы команда TEAM1, проект AgroVision AI. Мы делаем так, чтобы по снимкам с дрона агроном за один выезд получал карту сорняков: где они, какого вида, в какой фазе и что с ними делать.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Внутри две модели. Первая — детектор. Она обучена на культурах и сорняках и на снимке с дрона обводит каждый сорняк рамкой. Каждая рамка вырезается как отдельный фрагмент: из одного кадра их бывает до восьмидесяти. Вторая модель — классификатор. По фрагменту она определяет вид, один из 26 видов из датасета кейса, и фазу развития. Дальше правила ментора превращают это в решение.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Детектор на реальных тестовых снимках даёт mAP@50 0,76 и почти не срабатывает на чистой почве: одна ошибка на двенадцати кадрах. Классификатор на эталонных фото: 98,4% по виду и 98,7% по фазе. Один 4K-кадр сервер обрабатывает примерно за полсекунды.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Агроном выезжает на машине с док-станцией на крыше. Наше приложение делит поле между тремя-четырьмя дронами и рассчитывает высоту, угол камеры и маршруты. Дроны взлетают по очереди, облетают свои сектора, садятся обратно в станцию и заряжаются. Станция сама выгружает снимки, детектор работает прямо в машине, и через Starlink на сервер уходят только вырезанные фрагменты с координатами — сырые фото весят десятки гигабайт и через спутник не пройдут.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снимках с дрона модель не всегда уверена, и мы это не прячем. Всё, что ниже 75% уверенности, попадает в приложение агронома. Он видит фрагмент и варианты модели, выбирает ближайший или указывает вид сам. Приложение работает без связи. Каждое такое решение сохраняется и идёт на дообучение, поэтому с каждым выездом модель ошибается реже.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Решение принимается по правилам, которые нам дал ментор. Первое — порог вредоносности по плотности на квадратный метр, отдельно для малолетних и многолетних сорняков. Второе — поправка дозы по фазе. Если сорняк уже переросший, система предупреждает агронома, что обработка будет малоэффективной.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выходе не просто точки. Вокруг каждого очага строится зона с координатами, потому что рядом почти всегда есть ещё растения, а у многолетников зона шире. Зоны выгружаются картой для опрыскивателя. Многолетники дополнительно сохраняются в отдельную базу, чтобы сравнивать поле от сезона к сезону. Всё это видно в общем дашборде агрономов.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Короткое видео: машина встаёт на край поля в точке, которую подсказал планировщик, четыре дрона облетают свои сектора, возвращаются на станцию, данные уходят на сервер и в очередь агронома.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Итог: дрон снимает, две модели находят сорняки и определяют вид и фазу, агроном подтверждает сомнительное, и на выходе готовая карта обработки. Спасибо,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0"/>
              </a:spcAft>
              <a:defRPr sz="6000" b="1">
                <a:solidFill>
                  <a:srgbClr val="FFFFFF"/>
                </a:solidFill>
                <a:latin typeface="Inter"/>
              </a:defRPr>
            </a:pPr>
            <a:r>
              <a:t>AgroVision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971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400" b="0">
                <a:solidFill>
                  <a:srgbClr val="C9E8D4"/>
                </a:solidFill>
                <a:latin typeface="Inter"/>
              </a:defRPr>
            </a:pPr>
            <a:r>
              <a:t>Карта сорняков за один выезд агронома: где, какого вида, в какой фазе и что делать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600" b="0">
                <a:solidFill>
                  <a:srgbClr val="9FC9B0"/>
                </a:solidFill>
                <a:latin typeface="Inter"/>
              </a:defRPr>
            </a:pPr>
            <a:r>
              <a:t>TEAM1 · Кейс №1 «Олжа Агро» · Qostanai AgroTech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9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  <a:defRPr sz="1300" b="1">
                <a:solidFill>
                  <a:srgbClr val="1F9D55"/>
                </a:solidFill>
                <a:latin typeface="Inter"/>
              </a:defRPr>
            </a:pPr>
            <a:r>
              <a:t>КАК ЭТО РАБОТАЕТ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F3D2E"/>
                </a:solidFill>
                <a:latin typeface="Inter"/>
              </a:defRPr>
            </a:pPr>
            <a:r>
              <a:t>Две модели: найти → распознать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4747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D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400" b="1">
                <a:solidFill>
                  <a:srgbClr val="1F9D55"/>
                </a:solidFill>
                <a:latin typeface="Inter"/>
              </a:defRPr>
            </a:pPr>
            <a:r>
              <a:t>1. Детектор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  <a:defRPr sz="1800" b="0">
                <a:solidFill>
                  <a:srgbClr val="1E2924"/>
                </a:solidFill>
                <a:latin typeface="Inter"/>
              </a:defRPr>
            </a:pPr>
            <a:r>
              <a:t>Обучен на культурах и сорняках. На снимке с дрона обводит каждый сорняк рамкой. Каждая рамка — отдельный фрагмент, до 80 на кадр.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828800"/>
            <a:ext cx="34747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D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2057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400" b="1">
                <a:solidFill>
                  <a:srgbClr val="1F9D55"/>
                </a:solidFill>
                <a:latin typeface="Inter"/>
              </a:defRPr>
            </a:pPr>
            <a:r>
              <a:t>2. Классификатор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306324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  <a:defRPr sz="1800" b="0">
                <a:solidFill>
                  <a:srgbClr val="1E2924"/>
                </a:solidFill>
                <a:latin typeface="Inter"/>
              </a:defRPr>
            </a:pPr>
            <a:r>
              <a:t>По фрагменту определяет вид (26 видов из датасета кейса) и фазу развития.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828800"/>
            <a:ext cx="34747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D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2057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400" b="1">
                <a:solidFill>
                  <a:srgbClr val="1F9D55"/>
                </a:solidFill>
                <a:latin typeface="Inter"/>
              </a:defRPr>
            </a:pPr>
            <a:r>
              <a:t>3. Правила ментора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306324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  <a:defRPr sz="1800" b="0">
                <a:solidFill>
                  <a:srgbClr val="1E2924"/>
                </a:solidFill>
                <a:latin typeface="Inter"/>
              </a:defRPr>
            </a:pPr>
            <a:r>
              <a:t>Превращают вид, фазу и плотность в решение: обрабатывать или нет, какой дозой.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9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  <a:defRPr sz="1300" b="1">
                <a:solidFill>
                  <a:srgbClr val="1F9D55"/>
                </a:solidFill>
                <a:latin typeface="Inter"/>
              </a:defRPr>
            </a:pPr>
            <a:r>
              <a:t>РЕЗУЛЬТАТЫ НА ДАННЫХ КЕЙСА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F3D2E"/>
                </a:solidFill>
                <a:latin typeface="Inter"/>
              </a:defRPr>
            </a:pPr>
            <a:r>
              <a:t>Что показывают 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  <a:defRPr sz="4400" b="1">
                <a:solidFill>
                  <a:srgbClr val="0F3D2E"/>
                </a:solidFill>
                <a:latin typeface="Inter"/>
              </a:defRPr>
            </a:pPr>
            <a:r>
              <a:t>0,76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600" b="0">
                <a:solidFill>
                  <a:srgbClr val="5B6B63"/>
                </a:solidFill>
                <a:latin typeface="Inter"/>
              </a:defRPr>
            </a:pPr>
            <a:r>
              <a:t>mAP@50 детектора</a:t>
            </a:r>
          </a:p>
          <a:p>
            <a:pPr>
              <a:spcAft>
                <a:spcPts val="720"/>
              </a:spcAft>
              <a:defRPr sz="1600" b="0">
                <a:solidFill>
                  <a:srgbClr val="5B6B63"/>
                </a:solidFill>
                <a:latin typeface="Inter"/>
              </a:defRPr>
            </a:pPr>
            <a:r>
              <a:t>313 реальных тестовых снимков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79" y="17373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  <a:defRPr sz="4400" b="1">
                <a:solidFill>
                  <a:srgbClr val="0F3D2E"/>
                </a:solidFill>
                <a:latin typeface="Inter"/>
              </a:defRPr>
            </a:pPr>
            <a:r>
              <a:t>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79" y="26517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600" b="0">
                <a:solidFill>
                  <a:srgbClr val="5B6B63"/>
                </a:solidFill>
                <a:latin typeface="Inter"/>
              </a:defRPr>
            </a:pPr>
            <a:r>
              <a:t>ложное срабатывание</a:t>
            </a:r>
          </a:p>
          <a:p>
            <a:pPr>
              <a:spcAft>
                <a:spcPts val="720"/>
              </a:spcAft>
              <a:defRPr sz="1600" b="0">
                <a:solidFill>
                  <a:srgbClr val="5B6B63"/>
                </a:solidFill>
                <a:latin typeface="Inter"/>
              </a:defRPr>
            </a:pPr>
            <a:r>
              <a:t>на кадрах чистой почвы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79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  <a:defRPr sz="4400" b="1">
                <a:solidFill>
                  <a:srgbClr val="0F3D2E"/>
                </a:solidFill>
                <a:latin typeface="Inter"/>
              </a:defRPr>
            </a:pPr>
            <a:r>
              <a:t>98,4% · 98,7%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79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600" b="0">
                <a:solidFill>
                  <a:srgbClr val="5B6B63"/>
                </a:solidFill>
                <a:latin typeface="Inter"/>
              </a:defRPr>
            </a:pPr>
            <a:r>
              <a:t>классификатор: вид · фаза</a:t>
            </a:r>
          </a:p>
          <a:p>
            <a:pPr>
              <a:spcAft>
                <a:spcPts val="720"/>
              </a:spcAft>
              <a:defRPr sz="1600" b="0">
                <a:solidFill>
                  <a:srgbClr val="5B6B63"/>
                </a:solidFill>
                <a:latin typeface="Inter"/>
              </a:defRPr>
            </a:pPr>
            <a:r>
              <a:t>1 591 эталонное фото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9" y="3840479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  <a:defRPr sz="4400" b="1">
                <a:solidFill>
                  <a:srgbClr val="0F3D2E"/>
                </a:solidFill>
                <a:latin typeface="Inter"/>
              </a:defRPr>
            </a:pPr>
            <a:r>
              <a:t>0,53 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9" y="4754879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600" b="0">
                <a:solidFill>
                  <a:srgbClr val="5B6B63"/>
                </a:solidFill>
                <a:latin typeface="Inter"/>
              </a:defRPr>
            </a:pPr>
            <a:r>
              <a:t>на 4K-кадр</a:t>
            </a:r>
          </a:p>
          <a:p>
            <a:pPr>
              <a:spcAft>
                <a:spcPts val="720"/>
              </a:spcAft>
              <a:defRPr sz="1600" b="0">
                <a:solidFill>
                  <a:srgbClr val="5B6B63"/>
                </a:solidFill>
                <a:latin typeface="Inter"/>
              </a:defRPr>
            </a:pPr>
            <a:r>
              <a:t>на GPU сервера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9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  <a:defRPr sz="1300" b="1">
                <a:solidFill>
                  <a:srgbClr val="1F9D55"/>
                </a:solidFill>
                <a:latin typeface="Inter"/>
              </a:defRPr>
            </a:pPr>
            <a:r>
              <a:t>ВЫЕЗД В ПОЛЕ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F3D2E"/>
                </a:solidFill>
                <a:latin typeface="Inter"/>
              </a:defRPr>
            </a:pPr>
            <a:r>
              <a:t>Мобильная дрон-станция на машине</a:t>
            </a:r>
          </a:p>
        </p:txBody>
      </p:sp>
      <p:pic>
        <p:nvPicPr>
          <p:cNvPr id="5" name="dock_station_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508760"/>
            <a:ext cx="804672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0" y="16459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5"/>
              </a:spcAft>
              <a:defRPr sz="1500" b="0">
                <a:solidFill>
                  <a:srgbClr val="1E2924"/>
                </a:solidFill>
                <a:latin typeface="Inter"/>
              </a:defRPr>
            </a:pPr>
            <a:r>
              <a:t>•  Крыша открывается, 3–4 дрона взлетают по очереди на разные эшелоны</a:t>
            </a:r>
          </a:p>
          <a:p>
            <a:pPr>
              <a:spcAft>
                <a:spcPts val="675"/>
              </a:spcAft>
              <a:defRPr sz="1500" b="0">
                <a:solidFill>
                  <a:srgbClr val="1E2924"/>
                </a:solidFill>
                <a:latin typeface="Inter"/>
              </a:defRPr>
            </a:pPr>
            <a:r>
              <a:t>•  Приложение делит поле на сектора</a:t>
            </a:r>
          </a:p>
          <a:p>
            <a:pPr>
              <a:spcAft>
                <a:spcPts val="675"/>
              </a:spcAft>
              <a:defRPr sz="1500" b="0">
                <a:solidFill>
                  <a:srgbClr val="1E2924"/>
                </a:solidFill>
                <a:latin typeface="Inter"/>
              </a:defRPr>
            </a:pPr>
            <a:r>
              <a:t>•  Посадка → зарядка → выгрузка</a:t>
            </a:r>
          </a:p>
          <a:p>
            <a:pPr>
              <a:spcAft>
                <a:spcPts val="675"/>
              </a:spcAft>
              <a:defRPr sz="1500" b="0">
                <a:solidFill>
                  <a:srgbClr val="1E2924"/>
                </a:solidFill>
                <a:latin typeface="Inter"/>
              </a:defRPr>
            </a:pPr>
            <a:r>
              <a:t>•  Детектор в машине, через Starlink — только фрагменты + GPS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9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  <a:defRPr sz="1300" b="1">
                <a:solidFill>
                  <a:srgbClr val="1F9D55"/>
                </a:solidFill>
                <a:latin typeface="Inter"/>
              </a:defRPr>
            </a:pPr>
            <a:r>
              <a:t>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F3D2E"/>
                </a:solidFill>
                <a:latin typeface="Inter"/>
              </a:defRPr>
            </a:pPr>
            <a:r>
              <a:t>Где модель не уверена — решает агроном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E2924"/>
                </a:solidFill>
                <a:latin typeface="Inter"/>
              </a:defRPr>
            </a:pPr>
            <a:r>
              <a:t>•  Всё ниже 75% уверенности — в приложение агронома</a:t>
            </a:r>
          </a:p>
          <a:p>
            <a:pPr>
              <a:spcAft>
                <a:spcPts val="900"/>
              </a:spcAft>
              <a:defRPr sz="2000" b="0">
                <a:solidFill>
                  <a:srgbClr val="1E2924"/>
                </a:solidFill>
                <a:latin typeface="Inter"/>
              </a:defRPr>
            </a:pPr>
            <a:r>
              <a:t>•  Он видит фрагмент и варианты модели: выбирает ближайший или указывает вид сам</a:t>
            </a:r>
          </a:p>
          <a:p>
            <a:pPr>
              <a:spcAft>
                <a:spcPts val="900"/>
              </a:spcAft>
              <a:defRPr sz="2000" b="0">
                <a:solidFill>
                  <a:srgbClr val="1E2924"/>
                </a:solidFill>
                <a:latin typeface="Inter"/>
              </a:defRPr>
            </a:pPr>
            <a:r>
              <a:t>•  Приложение работает без связи</a:t>
            </a:r>
          </a:p>
          <a:p>
            <a:pPr>
              <a:spcAft>
                <a:spcPts val="900"/>
              </a:spcAft>
              <a:defRPr sz="2000" b="0">
                <a:solidFill>
                  <a:srgbClr val="1E2924"/>
                </a:solidFill>
                <a:latin typeface="Inter"/>
              </a:defRPr>
            </a:pPr>
            <a:r>
              <a:t>•  Каждое решение — новая разметка для дообучения</a:t>
            </a:r>
          </a:p>
        </p:txBody>
      </p:sp>
      <p:pic>
        <p:nvPicPr>
          <p:cNvPr id="6" name="Picture 5" descr="agrovision-android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685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9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  <a:defRPr sz="1300" b="1">
                <a:solidFill>
                  <a:srgbClr val="1F9D55"/>
                </a:solidFill>
                <a:latin typeface="Inter"/>
              </a:defRPr>
            </a:pPr>
            <a:r>
              <a:t>АГРОНОМИЯ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F3D2E"/>
                </a:solidFill>
                <a:latin typeface="Inter"/>
              </a:defRPr>
            </a:pPr>
            <a:r>
              <a:t>Решение по правилам ментора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400" b="0">
                <a:solidFill>
                  <a:srgbClr val="1E2924"/>
                </a:solidFill>
                <a:latin typeface="Inter"/>
              </a:defRPr>
            </a:pPr>
            <a:r>
              <a:t>•  Порог вредоносности по плотности на м² — отдельно для малолетних и многолетних</a:t>
            </a:r>
          </a:p>
          <a:p>
            <a:pPr>
              <a:spcAft>
                <a:spcPts val="1080"/>
              </a:spcAft>
              <a:defRPr sz="2400" b="0">
                <a:solidFill>
                  <a:srgbClr val="1E2924"/>
                </a:solidFill>
                <a:latin typeface="Inter"/>
              </a:defRPr>
            </a:pPr>
            <a:r>
              <a:t>•  Поправка дозы по фазе развития сорняка</a:t>
            </a:r>
          </a:p>
          <a:p>
            <a:pPr>
              <a:spcAft>
                <a:spcPts val="1080"/>
              </a:spcAft>
              <a:defRPr sz="2400" b="0">
                <a:solidFill>
                  <a:srgbClr val="1E2924"/>
                </a:solidFill>
                <a:latin typeface="Inter"/>
              </a:defRPr>
            </a:pPr>
            <a:r>
              <a:t>•  Переросший сорняк → предупреждение: обработка будет малоэффективной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9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  <a:defRPr sz="1300" b="1">
                <a:solidFill>
                  <a:srgbClr val="1F9D55"/>
                </a:solidFill>
                <a:latin typeface="Inter"/>
              </a:defRPr>
            </a:pPr>
            <a:r>
              <a:t>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F3D2E"/>
                </a:solidFill>
                <a:latin typeface="Inter"/>
              </a:defRPr>
            </a:pPr>
            <a:r>
              <a:t>От очагов к заданию для опрыскивателя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5"/>
              </a:spcAft>
              <a:defRPr sz="1900" b="0">
                <a:solidFill>
                  <a:srgbClr val="1E2924"/>
                </a:solidFill>
                <a:latin typeface="Inter"/>
              </a:defRPr>
            </a:pPr>
            <a:r>
              <a:t>•  Вокруг очага — зона с GPS: рядом почти всегда есть ещё растения</a:t>
            </a:r>
          </a:p>
          <a:p>
            <a:pPr>
              <a:spcAft>
                <a:spcPts val="855"/>
              </a:spcAft>
              <a:defRPr sz="1900" b="0">
                <a:solidFill>
                  <a:srgbClr val="1E2924"/>
                </a:solidFill>
                <a:latin typeface="Inter"/>
              </a:defRPr>
            </a:pPr>
            <a:r>
              <a:t>•  У многолетников зона шире, они уходят в отдельную базу для сравнения по сезонам</a:t>
            </a:r>
          </a:p>
          <a:p>
            <a:pPr>
              <a:spcAft>
                <a:spcPts val="855"/>
              </a:spcAft>
              <a:defRPr sz="1900" b="0">
                <a:solidFill>
                  <a:srgbClr val="1E2924"/>
                </a:solidFill>
                <a:latin typeface="Inter"/>
              </a:defRPr>
            </a:pPr>
            <a:r>
              <a:t>•  Выгрузка карты для опрыскивателя (ISO-XML TaskData)</a:t>
            </a:r>
          </a:p>
          <a:p>
            <a:pPr>
              <a:spcAft>
                <a:spcPts val="855"/>
              </a:spcAft>
              <a:defRPr sz="1900" b="0">
                <a:solidFill>
                  <a:srgbClr val="1E2924"/>
                </a:solidFill>
                <a:latin typeface="Inter"/>
              </a:defRPr>
            </a:pPr>
            <a:r>
              <a:t>•  Общий дашборд агрономов</a:t>
            </a:r>
          </a:p>
        </p:txBody>
      </p:sp>
      <p:pic>
        <p:nvPicPr>
          <p:cNvPr id="6" name="Picture 5" descr="field_demo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5577840" cy="23823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9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  <a:defRPr sz="1300" b="1">
                <a:solidFill>
                  <a:srgbClr val="1F9D55"/>
                </a:solidFill>
                <a:latin typeface="Inter"/>
              </a:defRPr>
            </a:pPr>
            <a:r>
              <a:t>ДЕМО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F3D2E"/>
                </a:solidFill>
                <a:latin typeface="Inter"/>
              </a:defRPr>
            </a:pPr>
            <a:r>
              <a:t>Симуляция облёта: 4 дрона из одной машины</a:t>
            </a:r>
          </a:p>
        </p:txBody>
      </p:sp>
      <p:pic>
        <p:nvPicPr>
          <p:cNvPr id="5" name="dock_mission_simul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280" y="1463040"/>
            <a:ext cx="9966960" cy="52139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  <a:defRPr sz="3000" b="1">
                <a:solidFill>
                  <a:srgbClr val="FFFFFF"/>
                </a:solidFill>
                <a:latin typeface="Inter"/>
              </a:defRPr>
            </a:pPr>
            <a:r>
              <a:t>Дрон снимает → две модели находят сорняки и определяют вид и фазу → агроном подтверждает сомнительное → готовая карта обработки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  <a:defRPr sz="2600" b="0">
                <a:solidFill>
                  <a:srgbClr val="C9E8D4"/>
                </a:solidFill>
                <a:latin typeface="Inter"/>
              </a:defRPr>
            </a:pPr>
            <a:r>
              <a:t>Спасибо! Готовы ответить на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